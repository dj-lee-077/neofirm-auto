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d0a951a-0ce6-669a-533e-a8ee7d213be0}">
          <p14:sldIdLst>
            <p14:sldId id="256"/>
          </p14:sldIdLst>
        </p14:section>
        <p14:section name="과정" id="{0d2ce04a-3b47-51c7-29a5-b803785c861b}">
          <p14:sldIdLst>
            <p14:sldId id="257"/>
            <p14:sldId id="258"/>
            <p14:sldId id="259"/>
          </p14:sldIdLst>
        </p14:section>
        <p14:section name="마무리" id="{0a4c5206-1292-ea86-c7e5-c308476ce65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</c:v>
                </c:pt>
              </c:strCache>
            </c:strRef>
          </c:tx>
          <c:spPr>
            <a:solidFill>
              <a:srgbClr val="868E96"/>
            </a:solidFill>
            <a:effectLst/>
          </c:spPr>
          <c:invertIfNegative val="0"/>
          <c:dLbls>
            <c:numFmt formatCode="0&quot;분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68E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2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사전 인증 준비</c:v>
                  </c:pt>
                  <c:pt idx="1">
                    <c:v>S1~S11 자동 구간</c:v>
                  </c:pt>
                  <c:pt idx="2">
                    <c:v>S12 슬라이드 생성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</c:v>
                </c:pt>
                <c:pt idx="1">
                  <c:v>48</c:v>
                </c:pt>
                <c:pt idx="2">
                  <c:v>275</c:v>
                </c:pt>
              </c:numCache>
            </c:numRef>
          </c:val>
        </c:ser>
        <c:dLbls>
          <c:numFmt formatCode="0&quot;분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6-2, 조사부터 발표자료까지 사람 손 없이 만든 과정과 시행착오를 1분으로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리포트 하나로 NotebookLM이 조사하고, 에이전트 셋이 토론해 15점을 받고, 슬라이드까지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 손 없이 48분을 돌았지만, 슬라이드 생성 한 단계에서만 275분이 걸렸습니다. 병목은 AI가 아니라 인증과 한도였습니다.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쿠키, 파일 이름 대소문자, 소스 50개 한도, 생성 제한까지 네 번 막혔고, 마지막은 새 세션에서 풀었습니다.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사람 개입 0회는 48분 구간에만 해당합니다. 다음엔 소스를 줄이고 인증을 먼저 점검하겠습니다.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NeoFirm 자동화 · 과정 기록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2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188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NeoFirm 자동화,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어떻게 만들었나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FD8E0"/>
                </a:solidFill>
              </a:rPr>
              <a:t>시행착오와 만든 과정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CA"/>
                </a:solidFill>
              </a:rPr>
              <a:t>몰입캠프 과제 #6-2 · Claude Code + NotebookLM CLI</a:t>
            </a:r>
            <a:endParaRPr lang="en-US" sz="1200" dirty="0"/>
          </a:p>
        </p:txBody>
      </p:sp>
      <p:sp>
        <p:nvSpPr>
          <p:cNvPr id="5" name="stage 자료조사"/>
          <p:cNvSpPr/>
          <p:nvPr/>
        </p:nvSpPr>
        <p:spPr>
          <a:xfrm>
            <a:off x="6035040" y="114300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1D3A45"/>
          </a:solidFill>
          <a:ln/>
        </p:spPr>
      </p:sp>
      <p:sp>
        <p:nvSpPr>
          <p:cNvPr id="6" name="stage chip 자료조사"/>
          <p:cNvSpPr/>
          <p:nvPr/>
        </p:nvSpPr>
        <p:spPr>
          <a:xfrm>
            <a:off x="6172200" y="13441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7" name="chip text S1–S7"/>
          <p:cNvSpPr txBox="1"/>
          <p:nvPr/>
        </p:nvSpPr>
        <p:spPr>
          <a:xfrm>
            <a:off x="6172200" y="13441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S1–S7</a:t>
            </a:r>
            <a:endParaRPr lang="en-US" sz="1200" dirty="0"/>
          </a:p>
        </p:txBody>
      </p:sp>
      <p:sp>
        <p:nvSpPr>
          <p:cNvPr id="8" name="stage name 자료조사"/>
          <p:cNvSpPr txBox="1"/>
          <p:nvPr/>
        </p:nvSpPr>
        <p:spPr>
          <a:xfrm>
            <a:off x="7178040" y="1325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자료조사</a:t>
            </a:r>
            <a:endParaRPr lang="en-US" sz="1800" dirty="0"/>
          </a:p>
        </p:txBody>
      </p:sp>
      <p:sp>
        <p:nvSpPr>
          <p:cNvPr id="9" name="stage AI 토론"/>
          <p:cNvSpPr/>
          <p:nvPr/>
        </p:nvSpPr>
        <p:spPr>
          <a:xfrm>
            <a:off x="6035040" y="205740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1D3A45"/>
          </a:solidFill>
          <a:ln/>
        </p:spPr>
      </p:sp>
      <p:sp>
        <p:nvSpPr>
          <p:cNvPr id="10" name="stage chip AI 토론"/>
          <p:cNvSpPr/>
          <p:nvPr/>
        </p:nvSpPr>
        <p:spPr>
          <a:xfrm>
            <a:off x="6172200" y="22585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11" name="chip text S8–S10"/>
          <p:cNvSpPr txBox="1"/>
          <p:nvPr/>
        </p:nvSpPr>
        <p:spPr>
          <a:xfrm>
            <a:off x="6172200" y="22585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S8–S10</a:t>
            </a:r>
            <a:endParaRPr lang="en-US" sz="1200" dirty="0"/>
          </a:p>
        </p:txBody>
      </p:sp>
      <p:sp>
        <p:nvSpPr>
          <p:cNvPr id="12" name="stage name AI 토론"/>
          <p:cNvSpPr txBox="1"/>
          <p:nvPr/>
        </p:nvSpPr>
        <p:spPr>
          <a:xfrm>
            <a:off x="7178040" y="2240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토론</a:t>
            </a:r>
            <a:endParaRPr lang="en-US" sz="1800" dirty="0"/>
          </a:p>
        </p:txBody>
      </p:sp>
      <p:sp>
        <p:nvSpPr>
          <p:cNvPr id="13" name="stage 발표자료"/>
          <p:cNvSpPr/>
          <p:nvPr/>
        </p:nvSpPr>
        <p:spPr>
          <a:xfrm>
            <a:off x="6035040" y="297180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1D3A45"/>
          </a:solidFill>
          <a:ln/>
        </p:spPr>
      </p:sp>
      <p:sp>
        <p:nvSpPr>
          <p:cNvPr id="14" name="stage chip 발표자료"/>
          <p:cNvSpPr/>
          <p:nvPr/>
        </p:nvSpPr>
        <p:spPr>
          <a:xfrm>
            <a:off x="6172200" y="31729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15" name="chip text S11–S14"/>
          <p:cNvSpPr txBox="1"/>
          <p:nvPr/>
        </p:nvSpPr>
        <p:spPr>
          <a:xfrm>
            <a:off x="6172200" y="31729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S11–S14</a:t>
            </a:r>
            <a:endParaRPr lang="en-US" sz="1200" dirty="0"/>
          </a:p>
        </p:txBody>
      </p:sp>
      <p:sp>
        <p:nvSpPr>
          <p:cNvPr id="16" name="stage name 발표자료"/>
          <p:cNvSpPr txBox="1"/>
          <p:nvPr/>
        </p:nvSpPr>
        <p:spPr>
          <a:xfrm>
            <a:off x="7178040" y="3154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발표자료</a:t>
            </a:r>
            <a:endParaRPr lang="en-US" sz="1800" dirty="0"/>
          </a:p>
        </p:txBody>
      </p:sp>
      <p:sp>
        <p:nvSpPr>
          <p:cNvPr id="17" name="blocked stage"/>
          <p:cNvSpPr/>
          <p:nvPr/>
        </p:nvSpPr>
        <p:spPr>
          <a:xfrm>
            <a:off x="6035040" y="3886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E8590C"/>
          </a:solidFill>
          <a:ln/>
        </p:spPr>
      </p:sp>
      <p:sp>
        <p:nvSpPr>
          <p:cNvPr id="18" name="blocked text"/>
          <p:cNvSpPr txBox="1"/>
          <p:nvPr/>
        </p:nvSpPr>
        <p:spPr>
          <a:xfrm>
            <a:off x="612648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S12 슬라이드 생성에서 막힘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파이프라인: 3단계, 14개 스텝</a:t>
            </a:r>
            <a:endParaRPr lang="en-US" sz="2800" dirty="0"/>
          </a:p>
        </p:txBody>
      </p:sp>
      <p:sp>
        <p:nvSpPr>
          <p:cNvPr id="3" name="stage card 자료조사"/>
          <p:cNvSpPr/>
          <p:nvPr/>
        </p:nvSpPr>
        <p:spPr>
          <a:xfrm>
            <a:off x="457200" y="123444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4" name="step chip 자료조사"/>
          <p:cNvSpPr/>
          <p:nvPr/>
        </p:nvSpPr>
        <p:spPr>
          <a:xfrm>
            <a:off x="640080" y="1371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5" name="chip text S1–S7"/>
          <p:cNvSpPr txBox="1"/>
          <p:nvPr/>
        </p:nvSpPr>
        <p:spPr>
          <a:xfrm>
            <a:off x="640080" y="1371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S1–S7</a:t>
            </a:r>
            <a:endParaRPr lang="en-US" sz="1200" dirty="0"/>
          </a:p>
        </p:txBody>
      </p:sp>
      <p:sp>
        <p:nvSpPr>
          <p:cNvPr id="6" name="stage title 자료조사"/>
          <p:cNvSpPr txBox="1"/>
          <p:nvPr/>
        </p:nvSpPr>
        <p:spPr>
          <a:xfrm>
            <a:off x="6400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자료조사</a:t>
            </a:r>
            <a:endParaRPr lang="en-US" sz="1800" dirty="0"/>
          </a:p>
        </p:txBody>
      </p:sp>
      <p:sp>
        <p:nvSpPr>
          <p:cNvPr id="7" name="stage tool 자료조사"/>
          <p:cNvSpPr txBox="1"/>
          <p:nvPr/>
        </p:nvSpPr>
        <p:spPr>
          <a:xfrm>
            <a:off x="640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NotebookLM</a:t>
            </a:r>
            <a:endParaRPr lang="en-US" sz="1200" dirty="0"/>
          </a:p>
        </p:txBody>
      </p:sp>
      <p:sp>
        <p:nvSpPr>
          <p:cNvPr id="8" name="stage bullets 자료조사"/>
          <p:cNvSpPr txBox="1"/>
          <p:nvPr/>
        </p:nvSpPr>
        <p:spPr>
          <a:xfrm>
            <a:off x="64008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리포트 분석 · 주제 채점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웹 리서치로 소스 50개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질의 13개 → 브리프</a:t>
            </a:r>
            <a:endParaRPr lang="en-US" sz="1400" dirty="0"/>
          </a:p>
        </p:txBody>
      </p:sp>
      <p:sp>
        <p:nvSpPr>
          <p:cNvPr id="9" name="arrow 0"/>
          <p:cNvSpPr/>
          <p:nvPr/>
        </p:nvSpPr>
        <p:spPr>
          <a:xfrm>
            <a:off x="3063240" y="2286000"/>
            <a:ext cx="18288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0" name="stage card AI 토론"/>
          <p:cNvSpPr/>
          <p:nvPr/>
        </p:nvSpPr>
        <p:spPr>
          <a:xfrm>
            <a:off x="3291840" y="123444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1" name="step chip AI 토론"/>
          <p:cNvSpPr/>
          <p:nvPr/>
        </p:nvSpPr>
        <p:spPr>
          <a:xfrm>
            <a:off x="3474720" y="1371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12" name="chip text S8–S10"/>
          <p:cNvSpPr txBox="1"/>
          <p:nvPr/>
        </p:nvSpPr>
        <p:spPr>
          <a:xfrm>
            <a:off x="3474720" y="1371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S8–S10</a:t>
            </a:r>
            <a:endParaRPr lang="en-US" sz="1200" dirty="0"/>
          </a:p>
        </p:txBody>
      </p:sp>
      <p:sp>
        <p:nvSpPr>
          <p:cNvPr id="13" name="stage title AI 토론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토론</a:t>
            </a:r>
            <a:endParaRPr lang="en-US" sz="1800" dirty="0"/>
          </a:p>
        </p:txBody>
      </p:sp>
      <p:sp>
        <p:nvSpPr>
          <p:cNvPr id="14" name="stage tool AI 토론"/>
          <p:cNvSpPr txBox="1"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서브에이전트 4개</a:t>
            </a:r>
            <a:endParaRPr lang="en-US" sz="1200" dirty="0"/>
          </a:p>
        </p:txBody>
      </p:sp>
      <p:sp>
        <p:nvSpPr>
          <p:cNvPr id="15" name="stage bullets AI 토론"/>
          <p:cNvSpPr txBox="1"/>
          <p:nvPr/>
        </p:nvSpPr>
        <p:spPr>
          <a:xfrm>
            <a:off x="347472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창업자·VC·규제 3라운드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심사위원 채점 15/25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팩트체크 10개</a:t>
            </a:r>
            <a:endParaRPr lang="en-US" sz="1400" dirty="0"/>
          </a:p>
        </p:txBody>
      </p:sp>
      <p:sp>
        <p:nvSpPr>
          <p:cNvPr id="16" name="arrow 1"/>
          <p:cNvSpPr/>
          <p:nvPr/>
        </p:nvSpPr>
        <p:spPr>
          <a:xfrm>
            <a:off x="5897880" y="2286000"/>
            <a:ext cx="18288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7" name="stage card 발표자료"/>
          <p:cNvSpPr/>
          <p:nvPr/>
        </p:nvSpPr>
        <p:spPr>
          <a:xfrm>
            <a:off x="6126480" y="123444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18" name="step chip 발표자료"/>
          <p:cNvSpPr/>
          <p:nvPr/>
        </p:nvSpPr>
        <p:spPr>
          <a:xfrm>
            <a:off x="6309360" y="1371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19" name="chip text S11–S14"/>
          <p:cNvSpPr txBox="1"/>
          <p:nvPr/>
        </p:nvSpPr>
        <p:spPr>
          <a:xfrm>
            <a:off x="6309360" y="1371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S11–S14</a:t>
            </a:r>
            <a:endParaRPr lang="en-US" sz="1200" dirty="0"/>
          </a:p>
        </p:txBody>
      </p:sp>
      <p:sp>
        <p:nvSpPr>
          <p:cNvPr id="20" name="stage title 발표자료"/>
          <p:cNvSpPr txBox="1"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발표자료</a:t>
            </a:r>
            <a:endParaRPr lang="en-US" sz="1800" dirty="0"/>
          </a:p>
        </p:txBody>
      </p:sp>
      <p:sp>
        <p:nvSpPr>
          <p:cNvPr id="21" name="stage tool 발표자료"/>
          <p:cNvSpPr txBox="1"/>
          <p:nvPr/>
        </p:nvSpPr>
        <p:spPr>
          <a:xfrm>
            <a:off x="63093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NotebookLM</a:t>
            </a:r>
            <a:endParaRPr lang="en-US" sz="1200" dirty="0"/>
          </a:p>
        </p:txBody>
      </p:sp>
      <p:sp>
        <p:nvSpPr>
          <p:cNvPr id="22" name="stage bullets 발표자료"/>
          <p:cNvSpPr txBox="1"/>
          <p:nvPr/>
        </p:nvSpPr>
        <p:spPr>
          <a:xfrm>
            <a:off x="630936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투자메모 · 2분 원고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슬라이드 6장 생성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검수 → 커밋·푸시</a:t>
            </a:r>
            <a:endParaRPr lang="en-US" sz="1400" dirty="0"/>
          </a:p>
        </p:txBody>
      </p:sp>
      <p:sp>
        <p:nvSpPr>
          <p:cNvPr id="23" name="rule strip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2262E"/>
          </a:solidFill>
          <a:ln/>
        </p:spPr>
      </p:sp>
      <p:sp>
        <p:nvSpPr>
          <p:cNvPr id="24" name="rule text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지킨 규칙: NotebookLM은 스크립트로만 호출 · 단계 사이는 파일로만 전달 · 끝난 단계는 .done으로 건너뜀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시간은 어디에 쓰였나</a:t>
            </a:r>
            <a:endParaRPr lang="en-US" sz="2800" dirty="0"/>
          </a:p>
        </p:txBody>
      </p:sp>
      <p:graphicFrame>
        <p:nvGraphicFramePr>
          <p:cNvPr id="3" name="time chart" descr=""/>
          <p:cNvGraphicFramePr/>
          <p:nvPr/>
        </p:nvGraphicFramePr>
        <p:xfrm>
          <a:off x="457200" y="11887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ide head"/>
          <p:cNvSpPr txBox="1"/>
          <p:nvPr/>
        </p:nvSpPr>
        <p:spPr>
          <a:xfrm>
            <a:off x="60350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막힌 시간의 정체</a:t>
            </a:r>
            <a:endParaRPr lang="en-US" sz="1600" dirty="0"/>
          </a:p>
        </p:txBody>
      </p:sp>
      <p:sp>
        <p:nvSpPr>
          <p:cNvPr id="5" name="side message"/>
          <p:cNvSpPr txBox="1"/>
          <p:nvPr/>
        </p:nvSpPr>
        <p:spPr>
          <a:xfrm>
            <a:off x="603504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</a:rPr>
              <a:t>AI의 품질이 아니라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</a:rPr>
              <a:t>인증 · 한도 · 쿼터였다</a:t>
            </a:r>
            <a:endParaRPr lang="en-US" sz="1800" dirty="0"/>
          </a:p>
        </p:txBody>
      </p:sp>
      <p:sp>
        <p:nvSpPr>
          <p:cNvPr id="6" name="side caption"/>
          <p:cNvSpPr txBox="1"/>
          <p:nvPr/>
        </p:nvSpPr>
        <p:spPr>
          <a:xfrm>
            <a:off x="603504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사전 준비: 첫 인증 실패 23:55 → 스모크 통과 01:49. 사람이 기다린 시간은 제외, logs/run.log 기준.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시행착오: 네 번 막혔다</a:t>
            </a:r>
            <a:endParaRPr lang="en-US" sz="2800" dirty="0"/>
          </a:p>
        </p:txBody>
      </p:sp>
      <p:sp>
        <p:nvSpPr>
          <p:cNvPr id="3" name="trial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rial chip 1"/>
          <p:cNvSpPr/>
          <p:nvPr/>
        </p:nvSpPr>
        <p:spPr>
          <a:xfrm>
            <a:off x="640080" y="13258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5" name="chip text ① 인증"/>
          <p:cNvSpPr txBox="1"/>
          <p:nvPr/>
        </p:nvSpPr>
        <p:spPr>
          <a:xfrm>
            <a:off x="640080" y="1325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 인증</a:t>
            </a:r>
            <a:endParaRPr lang="en-US" sz="1200" dirty="0"/>
          </a:p>
        </p:txBody>
      </p:sp>
      <p:sp>
        <p:nvSpPr>
          <p:cNvPr id="6" name="trial text 1"/>
          <p:cNvSpPr txBox="1"/>
          <p:nvPr/>
        </p:nvSpPr>
        <p:spPr>
          <a:xfrm>
            <a:off x="64008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쿠키가 안 먹히고(CSRF 오류), 로그인 도구는 빈 쿠키를 저장</a:t>
            </a:r>
            <a:endParaRPr lang="en-US" sz="1400" dirty="0"/>
          </a:p>
        </p:txBody>
      </p:sp>
      <p:sp>
        <p:nvSpPr>
          <p:cNvPr id="7" name="trial fix 1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→ 크롬에 직접 로그인해 쿠키만 읽어옴</a:t>
            </a:r>
            <a:endParaRPr lang="en-US" sz="1400" dirty="0"/>
          </a:p>
        </p:txBody>
      </p:sp>
      <p:sp>
        <p:nvSpPr>
          <p:cNvPr id="8" name="trial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trial chip 2"/>
          <p:cNvSpPr/>
          <p:nvPr/>
        </p:nvSpPr>
        <p:spPr>
          <a:xfrm>
            <a:off x="4846320" y="13258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/>
        </p:spPr>
      </p:sp>
      <p:sp>
        <p:nvSpPr>
          <p:cNvPr id="10" name="chip text ② 사소한 실수"/>
          <p:cNvSpPr txBox="1"/>
          <p:nvPr/>
        </p:nvSpPr>
        <p:spPr>
          <a:xfrm>
            <a:off x="4846320" y="1325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 사소한 실수</a:t>
            </a:r>
            <a:endParaRPr lang="en-US" sz="1200" dirty="0"/>
          </a:p>
        </p:txBody>
      </p:sp>
      <p:sp>
        <p:nvSpPr>
          <p:cNvPr id="11" name="trial text 2"/>
          <p:cNvSpPr txBox="1"/>
          <p:nvPr/>
        </p:nvSpPr>
        <p:spPr>
          <a:xfrm>
            <a:off x="484632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Report.pdf ≠ report.pdf, 함수가 첫 줄만 반환(779자 → 12,245자)</a:t>
            </a:r>
            <a:endParaRPr lang="en-US" sz="1400" dirty="0"/>
          </a:p>
        </p:txBody>
      </p:sp>
      <p:sp>
        <p:nvSpPr>
          <p:cNvPr id="12" name="trial fix 2"/>
          <p:cNvSpPr txBox="1"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→ 이름 변경, 전체를 돌려주도록 수정</a:t>
            </a:r>
            <a:endParaRPr lang="en-US" sz="1400" dirty="0"/>
          </a:p>
        </p:txBody>
      </p:sp>
      <p:sp>
        <p:nvSpPr>
          <p:cNvPr id="13" name="trial card 3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trial chip 3"/>
          <p:cNvSpPr/>
          <p:nvPr/>
        </p:nvSpPr>
        <p:spPr>
          <a:xfrm>
            <a:off x="64008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/>
        </p:spPr>
      </p:sp>
      <p:sp>
        <p:nvSpPr>
          <p:cNvPr id="15" name="chip text ③ 소스 50개 한도"/>
          <p:cNvSpPr txBox="1"/>
          <p:nvPr/>
        </p:nvSpPr>
        <p:spPr>
          <a:xfrm>
            <a:off x="640080" y="3063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소스 50개 한도</a:t>
            </a:r>
            <a:endParaRPr lang="en-US" sz="1200" dirty="0"/>
          </a:p>
        </p:txBody>
      </p:sp>
      <p:sp>
        <p:nvSpPr>
          <p:cNvPr id="16" name="trial text 3"/>
          <p:cNvSpPr txBox="1"/>
          <p:nvPr/>
        </p:nvSpPr>
        <p:spPr>
          <a:xfrm>
            <a:off x="64008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쿠키 탓으로 오진했다가 한도로 정정, 웹 45개 vs CLI 50개</a:t>
            </a:r>
            <a:endParaRPr lang="en-US" sz="1400" dirty="0"/>
          </a:p>
        </p:txBody>
      </p:sp>
      <p:sp>
        <p:nvSpPr>
          <p:cNvPr id="17" name="trial fix 3"/>
          <p:cNvSpPr txBox="1"/>
          <p:nvPr/>
        </p:nvSpPr>
        <p:spPr>
          <a:xfrm>
            <a:off x="6400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→ 소스 14개 삭제 후 재개</a:t>
            </a:r>
            <a:endParaRPr lang="en-US" sz="1400" dirty="0"/>
          </a:p>
        </p:txBody>
      </p:sp>
      <p:sp>
        <p:nvSpPr>
          <p:cNvPr id="18" name="trial card 4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9" name="trial chip 4"/>
          <p:cNvSpPr/>
          <p:nvPr/>
        </p:nvSpPr>
        <p:spPr>
          <a:xfrm>
            <a:off x="4846320" y="3063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/>
        </p:spPr>
      </p:sp>
      <p:sp>
        <p:nvSpPr>
          <p:cNvPr id="20" name="chip text ④ 생성 제한"/>
          <p:cNvSpPr txBox="1"/>
          <p:nvPr/>
        </p:nvSpPr>
        <p:spPr>
          <a:xfrm>
            <a:off x="4846320" y="3063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④ 생성 제한</a:t>
            </a:r>
            <a:endParaRPr lang="en-US" sz="1200" dirty="0"/>
          </a:p>
        </p:txBody>
      </p:sp>
      <p:sp>
        <p:nvSpPr>
          <p:cNvPr id="21" name="trial text 4"/>
          <p:cNvSpPr txBox="1"/>
          <p:nvPr/>
        </p:nvSpPr>
        <p:spPr>
          <a:xfrm>
            <a:off x="484632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RateLimit 4회, 재시도 때 쿠키 또 만료</a:t>
            </a:r>
            <a:endParaRPr lang="en-US" sz="1400" dirty="0"/>
          </a:p>
        </p:txBody>
      </p:sp>
      <p:sp>
        <p:nvSpPr>
          <p:cNvPr id="22" name="trial fix 4"/>
          <p:cNvSpPr txBox="1"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285"/>
                </a:solidFill>
              </a:rPr>
              <a:t>→ 새 세션에서 09:28 시작, 09:39 완료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정직하게 말하면</a:t>
            </a:r>
            <a:endParaRPr lang="en-US" sz="3200" dirty="0"/>
          </a:p>
        </p:txBody>
      </p:sp>
      <p:sp>
        <p:nvSpPr>
          <p:cNvPr id="3" name="limit circle 1"/>
          <p:cNvSpPr/>
          <p:nvPr/>
        </p:nvSpPr>
        <p:spPr>
          <a:xfrm>
            <a:off x="548640" y="1431036"/>
            <a:ext cx="384048" cy="38404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4" name="limit num 1"/>
          <p:cNvSpPr txBox="1"/>
          <p:nvPr/>
        </p:nvSpPr>
        <p:spPr>
          <a:xfrm>
            <a:off x="548640" y="1431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imit text 1"/>
          <p:cNvSpPr txBox="1"/>
          <p:nvPr/>
        </p:nvSpPr>
        <p:spPr>
          <a:xfrm>
            <a:off x="109728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'사람 개입 0회'는 S1~S11(48분)에만 해당한다. S12는 쿠키 재발급과 소스 삭제가 필요했다.</a:t>
            </a:r>
            <a:endParaRPr lang="en-US" sz="1600" dirty="0"/>
          </a:p>
        </p:txBody>
      </p:sp>
      <p:sp>
        <p:nvSpPr>
          <p:cNvPr id="6" name="limit circle 2"/>
          <p:cNvSpPr/>
          <p:nvPr/>
        </p:nvSpPr>
        <p:spPr>
          <a:xfrm>
            <a:off x="548640" y="2208276"/>
            <a:ext cx="384048" cy="38404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7" name="limit num 2"/>
          <p:cNvSpPr txBox="1"/>
          <p:nvPr/>
        </p:nvSpPr>
        <p:spPr>
          <a:xfrm>
            <a:off x="548640" y="2208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limit text 2"/>
          <p:cNvSpPr txBox="1"/>
          <p:nvPr/>
        </p:nvSpPr>
        <p:spPr>
          <a:xfrm>
            <a:off x="1097280" y="2148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단위경제 수치는 전부 가정이다. 파일럿 100건에서 실측한다.</a:t>
            </a:r>
            <a:endParaRPr lang="en-US" sz="1600" dirty="0"/>
          </a:p>
        </p:txBody>
      </p:sp>
      <p:sp>
        <p:nvSpPr>
          <p:cNvPr id="9" name="limit circle 3"/>
          <p:cNvSpPr/>
          <p:nvPr/>
        </p:nvSpPr>
        <p:spPr>
          <a:xfrm>
            <a:off x="548640" y="2985516"/>
            <a:ext cx="384048" cy="38404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0" name="limit num 3"/>
          <p:cNvSpPr txBox="1"/>
          <p:nvPr/>
        </p:nvSpPr>
        <p:spPr>
          <a:xfrm>
            <a:off x="548640" y="2985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limit text 3"/>
          <p:cNvSpPr txBox="1"/>
          <p:nvPr/>
        </p:nvSpPr>
        <p:spPr>
          <a:xfrm>
            <a:off x="1097280" y="2926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다음엔 S5 소스를 35~40개로 제한하고, 단계마다 인증을 먼저 점검한다.</a:t>
            </a:r>
            <a:endParaRPr lang="en-US" sz="1600" dirty="0"/>
          </a:p>
        </p:txBody>
      </p:sp>
      <p:sp>
        <p:nvSpPr>
          <p:cNvPr id="12" name="takeaway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94D"/>
                </a:solidFill>
              </a:rPr>
              <a:t>자동화의 병목은 AI의 능력이 아니라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A94D"/>
                </a:solidFill>
              </a:rPr>
              <a:t>인증 · 한도 · 쿼터였다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Firm Process">
  <a:themeElements>
    <a:clrScheme name="NeoFirm Process">
      <a:dk1>
        <a:srgbClr val="1F2933"/>
      </a:dk1>
      <a:lt1>
        <a:srgbClr val="FFFFFF"/>
      </a:lt1>
      <a:dk2>
        <a:srgbClr val="12262E"/>
      </a:dk2>
      <a:lt2>
        <a:srgbClr val="F1F3F5"/>
      </a:lt2>
      <a:accent1>
        <a:srgbClr val="0B7285"/>
      </a:accent1>
      <a:accent2>
        <a:srgbClr val="E8590C"/>
      </a:accent2>
      <a:accent3>
        <a:srgbClr val="2F9E44"/>
      </a:accent3>
      <a:accent4>
        <a:srgbClr val="868E96"/>
      </a:accent4>
      <a:accent5>
        <a:srgbClr val="F59F00"/>
      </a:accent5>
      <a:accent6>
        <a:srgbClr val="C92A2A"/>
      </a:accent6>
      <a:hlink>
        <a:srgbClr val="0B7285"/>
      </a:hlink>
      <a:folHlink>
        <a:srgbClr val="868E96"/>
      </a:folHlink>
    </a:clrScheme>
    <a:fontScheme name="NeoFirm Proc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NeoFirm 자동화, 어떻게 만들었나</dc:title>
  <dc:subject>PptxGenJS Presentation</dc:subject>
  <dc:creator>NeoFirm 자동화 (Claude Code + NotebookLM CLI)</dc:creator>
  <cp:lastModifiedBy>NeoFirm 자동화 (Claude Code + NotebookLM CLI)</cp:lastModifiedBy>
  <cp:revision>1</cp:revision>
  <dcterms:created xsi:type="dcterms:W3CDTF">2026-10-09T13:04:43Z</dcterms:created>
  <dcterms:modified xsi:type="dcterms:W3CDTF">2026-10-09T13:04:43Z</dcterms:modified>
</cp:coreProperties>
</file>